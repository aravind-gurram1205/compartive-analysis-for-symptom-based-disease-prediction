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9" r:id="rId3"/>
    <p:sldId id="260" r:id="rId4"/>
    <p:sldId id="258" r:id="rId5"/>
    <p:sldId id="261" r:id="rId6"/>
    <p:sldId id="272" r:id="rId7"/>
    <p:sldId id="288" r:id="rId8"/>
    <p:sldId id="262" r:id="rId9"/>
    <p:sldId id="299" r:id="rId10"/>
    <p:sldId id="300" r:id="rId11"/>
    <p:sldId id="301" r:id="rId12"/>
    <p:sldId id="293" r:id="rId13"/>
    <p:sldId id="289" r:id="rId14"/>
    <p:sldId id="290" r:id="rId15"/>
    <p:sldId id="294" r:id="rId16"/>
    <p:sldId id="297" r:id="rId17"/>
    <p:sldId id="302" r:id="rId18"/>
    <p:sldId id="295" r:id="rId19"/>
    <p:sldId id="296" r:id="rId20"/>
    <p:sldId id="267" r:id="rId21"/>
    <p:sldId id="29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BCF05-058D-4510-865A-2536AF92D637}" v="13" dt="2026-04-15T02:57:03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NJALA SRINIVASA BHARGAV" userId="329d7e9e0432db51" providerId="LiveId" clId="{E6011112-650A-442D-B978-3BDDF5C13951}"/>
    <pc:docChg chg="undo custSel addSld modSld">
      <pc:chgData name="PINJALA SRINIVASA BHARGAV" userId="329d7e9e0432db51" providerId="LiveId" clId="{E6011112-650A-442D-B978-3BDDF5C13951}" dt="2026-04-15T02:57:21.251" v="595" actId="1076"/>
      <pc:docMkLst>
        <pc:docMk/>
      </pc:docMkLst>
      <pc:sldChg chg="addSp delSp modSp add mod">
        <pc:chgData name="PINJALA SRINIVASA BHARGAV" userId="329d7e9e0432db51" providerId="LiveId" clId="{E6011112-650A-442D-B978-3BDDF5C13951}" dt="2026-04-12T20:25:16.874" v="521"/>
        <pc:sldMkLst>
          <pc:docMk/>
          <pc:sldMk cId="840996621" sldId="294"/>
        </pc:sldMkLst>
        <pc:picChg chg="add mod">
          <ac:chgData name="PINJALA SRINIVASA BHARGAV" userId="329d7e9e0432db51" providerId="LiveId" clId="{E6011112-650A-442D-B978-3BDDF5C13951}" dt="2026-04-12T20:25:16.874" v="521"/>
          <ac:picMkLst>
            <pc:docMk/>
            <pc:sldMk cId="840996621" sldId="294"/>
            <ac:picMk id="2" creationId="{7D9235DC-31E9-D968-1D8E-059FE339D565}"/>
          </ac:picMkLst>
        </pc:picChg>
      </pc:sldChg>
      <pc:sldChg chg="addSp delSp modSp mod chgLayout">
        <pc:chgData name="PINJALA SRINIVASA BHARGAV" userId="329d7e9e0432db51" providerId="LiveId" clId="{E6011112-650A-442D-B978-3BDDF5C13951}" dt="2026-04-15T02:52:17.881" v="523" actId="700"/>
        <pc:sldMkLst>
          <pc:docMk/>
          <pc:sldMk cId="447882407" sldId="295"/>
        </pc:sldMkLst>
        <pc:spChg chg="mod ord">
          <ac:chgData name="PINJALA SRINIVASA BHARGAV" userId="329d7e9e0432db51" providerId="LiveId" clId="{E6011112-650A-442D-B978-3BDDF5C13951}" dt="2026-04-15T02:52:17.881" v="523" actId="700"/>
          <ac:spMkLst>
            <pc:docMk/>
            <pc:sldMk cId="447882407" sldId="295"/>
            <ac:spMk id="2" creationId="{4DF823C0-7653-ACA0-FDB5-DAA598945F47}"/>
          </ac:spMkLst>
        </pc:spChg>
        <pc:spChg chg="add del mod ord">
          <ac:chgData name="PINJALA SRINIVASA BHARGAV" userId="329d7e9e0432db51" providerId="LiveId" clId="{E6011112-650A-442D-B978-3BDDF5C13951}" dt="2026-04-15T02:52:17.881" v="523" actId="700"/>
          <ac:spMkLst>
            <pc:docMk/>
            <pc:sldMk cId="447882407" sldId="295"/>
            <ac:spMk id="3" creationId="{73401481-DE4F-6E2B-FB4E-F98EB0668D43}"/>
          </ac:spMkLst>
        </pc:spChg>
      </pc:sldChg>
      <pc:sldChg chg="addSp delSp modSp new mod">
        <pc:chgData name="PINJALA SRINIVASA BHARGAV" userId="329d7e9e0432db51" providerId="LiveId" clId="{E6011112-650A-442D-B978-3BDDF5C13951}" dt="2026-04-15T02:57:21.251" v="595" actId="1076"/>
        <pc:sldMkLst>
          <pc:docMk/>
          <pc:sldMk cId="3631260959" sldId="296"/>
        </pc:sldMkLst>
        <pc:spChg chg="mod">
          <ac:chgData name="PINJALA SRINIVASA BHARGAV" userId="329d7e9e0432db51" providerId="LiveId" clId="{E6011112-650A-442D-B978-3BDDF5C13951}" dt="2026-04-15T02:57:21.251" v="595" actId="1076"/>
          <ac:spMkLst>
            <pc:docMk/>
            <pc:sldMk cId="3631260959" sldId="296"/>
            <ac:spMk id="2" creationId="{5A6D5595-55CC-C074-69A5-F472291BA962}"/>
          </ac:spMkLst>
        </pc:spChg>
        <pc:spChg chg="add del mod">
          <ac:chgData name="PINJALA SRINIVASA BHARGAV" userId="329d7e9e0432db51" providerId="LiveId" clId="{E6011112-650A-442D-B978-3BDDF5C13951}" dt="2026-04-15T02:57:03.903" v="594"/>
          <ac:spMkLst>
            <pc:docMk/>
            <pc:sldMk cId="3631260959" sldId="296"/>
            <ac:spMk id="3" creationId="{C23FBFED-AC82-D0E0-8263-D59787BD220A}"/>
          </ac:spMkLst>
        </pc:spChg>
        <pc:spChg chg="add mod">
          <ac:chgData name="PINJALA SRINIVASA BHARGAV" userId="329d7e9e0432db51" providerId="LiveId" clId="{E6011112-650A-442D-B978-3BDDF5C13951}" dt="2026-04-15T02:54:09.884" v="562"/>
          <ac:spMkLst>
            <pc:docMk/>
            <pc:sldMk cId="3631260959" sldId="296"/>
            <ac:spMk id="4" creationId="{151F2D03-4960-1C4A-97FC-A99063A9E9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93C37-9784-49EF-A4DC-B400DF5053A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507D0-27BA-4CEC-AFB2-227C08745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69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7F33A-EDA1-4CD2-948A-2FEE18C5633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586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0684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079B-5CCC-0657-0F89-DB8E6C8EC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2AC60-65D3-44B9-C75D-506820348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36471-FBF1-5B5D-C115-384CE512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7A0BB-BFDE-A569-73EE-4C7CD2DBB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AA9F5-9624-4719-1E9B-C9B3797F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368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595A6-0A72-0AF7-8D62-F8D9C421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EAA73-AE80-B965-C639-A03E6D909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49FC1-4CEA-658F-555A-6F3D4C6A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7FF2-B115-0ACB-4379-67570FC6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27626-42F5-C84D-673C-FD249399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06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1CBA-4F37-D78F-346D-23020423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855FF-AF65-8EA1-2F02-A40CBAA15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2F98-7409-C4EB-9A51-2521AFB45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13CBA-EC75-4427-0599-8A7030F3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393A3-C3B4-E47F-2E47-7E1D4CFCC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72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A1A5-C92F-34F2-F7D6-9AD711DE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3CD7B-BB5D-3681-716A-9D79D06A3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6E332-70E9-0869-438F-E656DA35F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BCFEA-08EE-D2BB-B9B3-4E24853B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9A0B1-C1BF-68A9-6D1F-02B494D2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0DBEC-7B83-D6C7-B773-95AED14D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06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474BB-3ECD-981C-28DF-0BE74B16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2159C-AB3B-613F-2811-D21328EBD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B46F9-79D4-2FA6-0AFE-2471C3BA7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D1A74-2D91-E1CC-5087-432BBBC07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EC2AD-DB79-95AC-DA5F-9E9DA25E9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6A3F3F-EF97-D6E3-9421-DB195CFB9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6B9646-BE8E-14FB-AF56-DCFE6819A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8B2F3-898D-66AE-5BFB-C8377BA9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038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E05A-CCD5-B33D-2505-539C07B4A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CD5D8C-8E49-A128-967B-319784C0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52CD1-9CB5-0EF0-903B-136A1971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54041-7509-A6AF-013D-5CDB024E6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47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CD5C9-7474-86CE-D4B0-EDB33D4DA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25B01-8E45-ABF6-35C2-D97E4CA56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DFFDD-BF2C-9AE2-0459-ED6E0878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90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7184-DD0A-E75F-BE82-1A806462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0D1E0-5DB6-F8F7-1E41-AABC92605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A5ABC-963F-910E-52C8-C7CDC5ED4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E8DF9-42D3-752A-733C-9DA55A93F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D9377-3530-DF44-6F1F-586888A04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5B6C3-0BEE-F8B7-452E-295A828A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50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D5910-6D89-D41E-EF12-00157333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8BC4A-B468-BBC3-0917-3FD34218B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F1099-996B-A6EF-50F7-97F2939AE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AA0AA-CCBE-2744-F7B5-6512512B5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B7104-9A62-133D-2C86-23BD00093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10700-436A-D99F-E58F-4D0D8893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55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C66E-42B6-40A8-F09B-210788FF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CFFDF-C747-E396-15E6-CBF3316F5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A8C7F-86BC-DDA2-B0AA-9670BD9A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EDF16-769E-09C3-EB6C-67E23ED8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EF0DA-2F61-5C18-898C-240235CBF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88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52019D-9A04-E304-B430-9A715D9F7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D8E2C-6633-B711-7618-BAC7BB055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0879-AD19-C516-89A7-FFD349E6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11723-6B4E-856E-2725-FD448F14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5BEBB-70A1-DA82-C06B-CDD3B8B2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77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82688-9983-41A4-08DA-6402FD9A9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9B0EF-A33E-DDAA-0C62-F558DF776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0DDA3-F218-0CFD-214B-7BFE3848A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7FD35-607F-48A6-B277-3A0F1C4B3B1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0A968-F2F5-3FEB-96A5-7571360D9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BFE79-1A8B-8E38-82D7-06238B266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C2252-5402-40DA-8747-C46AF73EE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13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dhivyeshrk/diseases-and-symptoms-datase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9194" y="1333085"/>
            <a:ext cx="9133609" cy="4942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5080" lvl="0" algn="ctr"/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AI-Based Comparative Analysis of Deep Learning and Large Language Models for Symptom-Based Disease Prediction</a:t>
            </a: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065" marR="508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Technology in Information Technology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4097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BE11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IN" sz="2000" b="1" i="0" u="none" strike="noStrike" cap="none" dirty="0">
                <a:solidFill>
                  <a:srgbClr val="BF11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Review Presentation</a:t>
            </a:r>
            <a:endParaRPr sz="2000" b="1" i="0" u="none" strike="noStrike" cap="none" dirty="0">
              <a:solidFill>
                <a:srgbClr val="BF11A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4097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dirty="0"/>
          </a:p>
          <a:p>
            <a:pPr marL="0" marR="14097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6F2F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</a:t>
            </a:r>
            <a:r>
              <a:rPr lang="en-IN" sz="2400" b="1" dirty="0">
                <a:solidFill>
                  <a:srgbClr val="6F2F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Aravind</a:t>
            </a:r>
            <a:r>
              <a:rPr lang="en-IN" sz="2400" b="1" i="0" u="none" strike="noStrike" cap="none" dirty="0">
                <a:solidFill>
                  <a:srgbClr val="6F2F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(228W1A1290)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43939" marR="1257300" lvl="0" indent="0" algn="ctr" rtl="0">
              <a:spcBef>
                <a:spcPts val="35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6F2F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</a:t>
            </a:r>
            <a:r>
              <a:rPr lang="en-IN" sz="2400" b="1" dirty="0">
                <a:solidFill>
                  <a:srgbClr val="6F2F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Srinivasa Bhargav</a:t>
            </a:r>
            <a:r>
              <a:rPr lang="en-IN" sz="2400" b="1" i="0" u="none" strike="noStrike" cap="none" dirty="0">
                <a:solidFill>
                  <a:srgbClr val="6F2F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(228W1A12B7)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26719" lvl="0" indent="0" algn="ctr" rtl="0">
              <a:lnSpc>
                <a:spcPct val="105833"/>
              </a:lnSpc>
              <a:spcBef>
                <a:spcPts val="1889"/>
              </a:spcBef>
              <a:spcAft>
                <a:spcPts val="0"/>
              </a:spcAft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73530" marR="1767839" lvl="0" indent="0" algn="ctr" rtl="0">
              <a:lnSpc>
                <a:spcPct val="12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IN" sz="240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C.S.Pavan</a:t>
            </a:r>
            <a:r>
              <a:rPr lang="en-IN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Kumar</a:t>
            </a:r>
            <a:endParaRPr sz="24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73530" marR="1767839" lvl="0" indent="0" algn="ctr" rtl="0">
              <a:lnSpc>
                <a:spcPct val="12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Sr. Assistant Professor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9425" y="353058"/>
            <a:ext cx="1581736" cy="718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839" y="91114"/>
            <a:ext cx="1068565" cy="124197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>
            <a:spLocks noGrp="1"/>
          </p:cNvSpPr>
          <p:nvPr>
            <p:ph type="title"/>
          </p:nvPr>
        </p:nvSpPr>
        <p:spPr>
          <a:xfrm>
            <a:off x="3521392" y="313584"/>
            <a:ext cx="5149215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lang="en-IN" sz="24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en-IN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R Siddhartha Engineering College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-2022532" y="306966"/>
            <a:ext cx="7330836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AGENDA</a:t>
            </a:r>
            <a:endParaRPr dirty="0"/>
          </a:p>
        </p:txBody>
      </p:sp>
      <p:sp>
        <p:nvSpPr>
          <p:cNvPr id="93" name="Google Shape;93;p2"/>
          <p:cNvSpPr txBox="1"/>
          <p:nvPr/>
        </p:nvSpPr>
        <p:spPr>
          <a:xfrm>
            <a:off x="1103244" y="1122161"/>
            <a:ext cx="10356574" cy="551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Motivation and Problem statement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 and Outcomes of the Project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Datasets and Requirement Specifications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Methodology and Algorithems involved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Architecture diagram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Complete Results Obtained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 Analysis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</a:p>
          <a:p>
            <a:pPr marL="12700" lvl="0">
              <a:spcBef>
                <a:spcPts val="575"/>
              </a:spcBef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569622" y="237744"/>
            <a:ext cx="6755116" cy="77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40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686154" y="1158800"/>
            <a:ext cx="10515600" cy="4772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disease detection is important, as manual symptom-based diagnosis may lead to delayed or inaccurate treatment decisions.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medical symptom data require intelligent AI analysis, as different models exhibit varying performance in disease prediction.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disease prediction systems focus mainly on accuracy, whereas healthcare applications require both accurate and interpretable AI models for reliable decision-making.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compare Deep Learning and LLM models along with Explainable AI techniques to ensure reliable, transparent, and trustworthy medical predictions.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3D12-EC7E-135D-7531-DDE61E574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285136"/>
            <a:ext cx="10515600" cy="101226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42E6E-EADB-FF76-52C3-F228D6020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467"/>
            <a:ext cx="10515600" cy="516713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disease prediction based on patient symptoms remains a challenging task in healthcare systems.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AI-based prediction models differ in learning capability and performance.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emphasize prediction accuracy while lacking interpretability and transparency.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research exists comparing Deep Learning and Large Language Models for symptom-based disease prediction.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provides both accurate and explainable disease predictions.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74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E600-32EF-C00E-4AD1-2444AC643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30" y="0"/>
            <a:ext cx="10515600" cy="832541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5E4D3-3280-082A-A689-EC5EF97C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1022554"/>
            <a:ext cx="10515600" cy="566338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symptom-based disease prediction models using Deep Learning techniques (MLP,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Residual MLP) and LLM-based transformer models.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Explainable AI (SHAP) for understanding model predictions.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Deep Learning and LLM models using performance metrics and identify the most accurate and interpretable model for reliable disease prediction.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multiple AI-based disease prediction models with performance comparison between Deep Learning and LLM approaches.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explainable predictions improving transparency and trust in AI-based healthcare systems.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the best-performing accurate and interpretable model forming a comparative framework for healthcare decision-support systems.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424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D6C9F6-5A0E-7204-E497-FF11F38B5C77}"/>
              </a:ext>
            </a:extLst>
          </p:cNvPr>
          <p:cNvGraphicFramePr>
            <a:graphicFrameLocks noGrp="1"/>
          </p:cNvGraphicFramePr>
          <p:nvPr/>
        </p:nvGraphicFramePr>
        <p:xfrm>
          <a:off x="755652" y="1505330"/>
          <a:ext cx="10417176" cy="4711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9839">
                  <a:extLst>
                    <a:ext uri="{9D8B030D-6E8A-4147-A177-3AD203B41FA5}">
                      <a16:colId xmlns:a16="http://schemas.microsoft.com/office/drawing/2014/main" val="1578183199"/>
                    </a:ext>
                  </a:extLst>
                </a:gridCol>
                <a:gridCol w="1121193">
                  <a:extLst>
                    <a:ext uri="{9D8B030D-6E8A-4147-A177-3AD203B41FA5}">
                      <a16:colId xmlns:a16="http://schemas.microsoft.com/office/drawing/2014/main" val="3192086294"/>
                    </a:ext>
                  </a:extLst>
                </a:gridCol>
                <a:gridCol w="702483">
                  <a:extLst>
                    <a:ext uri="{9D8B030D-6E8A-4147-A177-3AD203B41FA5}">
                      <a16:colId xmlns:a16="http://schemas.microsoft.com/office/drawing/2014/main" val="2756605793"/>
                    </a:ext>
                  </a:extLst>
                </a:gridCol>
                <a:gridCol w="2110423">
                  <a:extLst>
                    <a:ext uri="{9D8B030D-6E8A-4147-A177-3AD203B41FA5}">
                      <a16:colId xmlns:a16="http://schemas.microsoft.com/office/drawing/2014/main" val="899785726"/>
                    </a:ext>
                  </a:extLst>
                </a:gridCol>
                <a:gridCol w="754077">
                  <a:extLst>
                    <a:ext uri="{9D8B030D-6E8A-4147-A177-3AD203B41FA5}">
                      <a16:colId xmlns:a16="http://schemas.microsoft.com/office/drawing/2014/main" val="3567697229"/>
                    </a:ext>
                  </a:extLst>
                </a:gridCol>
                <a:gridCol w="1121193">
                  <a:extLst>
                    <a:ext uri="{9D8B030D-6E8A-4147-A177-3AD203B41FA5}">
                      <a16:colId xmlns:a16="http://schemas.microsoft.com/office/drawing/2014/main" val="624502200"/>
                    </a:ext>
                  </a:extLst>
                </a:gridCol>
                <a:gridCol w="2109431">
                  <a:extLst>
                    <a:ext uri="{9D8B030D-6E8A-4147-A177-3AD203B41FA5}">
                      <a16:colId xmlns:a16="http://schemas.microsoft.com/office/drawing/2014/main" val="2981581369"/>
                    </a:ext>
                  </a:extLst>
                </a:gridCol>
                <a:gridCol w="1968537">
                  <a:extLst>
                    <a:ext uri="{9D8B030D-6E8A-4147-A177-3AD203B41FA5}">
                      <a16:colId xmlns:a16="http://schemas.microsoft.com/office/drawing/2014/main" val="2038019356"/>
                    </a:ext>
                  </a:extLst>
                </a:gridCol>
              </a:tblGrid>
              <a:tr h="455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4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55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A35F3A-D169-F2CA-B4EB-7951CB0850F3}"/>
              </a:ext>
            </a:extLst>
          </p:cNvPr>
          <p:cNvGraphicFramePr>
            <a:graphicFrameLocks noGrp="1"/>
          </p:cNvGraphicFramePr>
          <p:nvPr/>
        </p:nvGraphicFramePr>
        <p:xfrm>
          <a:off x="748666" y="1976437"/>
          <a:ext cx="10417176" cy="14525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9839">
                  <a:extLst>
                    <a:ext uri="{9D8B030D-6E8A-4147-A177-3AD203B41FA5}">
                      <a16:colId xmlns:a16="http://schemas.microsoft.com/office/drawing/2014/main" val="634083030"/>
                    </a:ext>
                  </a:extLst>
                </a:gridCol>
                <a:gridCol w="1121193">
                  <a:extLst>
                    <a:ext uri="{9D8B030D-6E8A-4147-A177-3AD203B41FA5}">
                      <a16:colId xmlns:a16="http://schemas.microsoft.com/office/drawing/2014/main" val="3788191969"/>
                    </a:ext>
                  </a:extLst>
                </a:gridCol>
                <a:gridCol w="702482">
                  <a:extLst>
                    <a:ext uri="{9D8B030D-6E8A-4147-A177-3AD203B41FA5}">
                      <a16:colId xmlns:a16="http://schemas.microsoft.com/office/drawing/2014/main" val="2730166257"/>
                    </a:ext>
                  </a:extLst>
                </a:gridCol>
                <a:gridCol w="2110423">
                  <a:extLst>
                    <a:ext uri="{9D8B030D-6E8A-4147-A177-3AD203B41FA5}">
                      <a16:colId xmlns:a16="http://schemas.microsoft.com/office/drawing/2014/main" val="3313988192"/>
                    </a:ext>
                  </a:extLst>
                </a:gridCol>
                <a:gridCol w="754077">
                  <a:extLst>
                    <a:ext uri="{9D8B030D-6E8A-4147-A177-3AD203B41FA5}">
                      <a16:colId xmlns:a16="http://schemas.microsoft.com/office/drawing/2014/main" val="969668341"/>
                    </a:ext>
                  </a:extLst>
                </a:gridCol>
                <a:gridCol w="1121193">
                  <a:extLst>
                    <a:ext uri="{9D8B030D-6E8A-4147-A177-3AD203B41FA5}">
                      <a16:colId xmlns:a16="http://schemas.microsoft.com/office/drawing/2014/main" val="1634366830"/>
                    </a:ext>
                  </a:extLst>
                </a:gridCol>
                <a:gridCol w="2109432">
                  <a:extLst>
                    <a:ext uri="{9D8B030D-6E8A-4147-A177-3AD203B41FA5}">
                      <a16:colId xmlns:a16="http://schemas.microsoft.com/office/drawing/2014/main" val="1851604336"/>
                    </a:ext>
                  </a:extLst>
                </a:gridCol>
                <a:gridCol w="1968537">
                  <a:extLst>
                    <a:ext uri="{9D8B030D-6E8A-4147-A177-3AD203B41FA5}">
                      <a16:colId xmlns:a16="http://schemas.microsoft.com/office/drawing/2014/main" val="1619548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Chatbot for Surgical Training (Oral Boards)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a GPT-4-based chatbot to assist in surgical exam training.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Symptom2Disease dataset, Diseases dataset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GPT-4, LLMs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for surgical education, but requires better reasoning accuracy.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Errors in clinical reasoning, hallucinations, and lack of domain-specific adaptation.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5316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7B692C-EC29-322E-4335-E993E2C1A562}"/>
              </a:ext>
            </a:extLst>
          </p:cNvPr>
          <p:cNvGraphicFramePr>
            <a:graphicFrameLocks noGrp="1"/>
          </p:cNvGraphicFramePr>
          <p:nvPr/>
        </p:nvGraphicFramePr>
        <p:xfrm>
          <a:off x="755652" y="3429000"/>
          <a:ext cx="10417176" cy="12071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9839">
                  <a:extLst>
                    <a:ext uri="{9D8B030D-6E8A-4147-A177-3AD203B41FA5}">
                      <a16:colId xmlns:a16="http://schemas.microsoft.com/office/drawing/2014/main" val="2480124451"/>
                    </a:ext>
                  </a:extLst>
                </a:gridCol>
                <a:gridCol w="1121193">
                  <a:extLst>
                    <a:ext uri="{9D8B030D-6E8A-4147-A177-3AD203B41FA5}">
                      <a16:colId xmlns:a16="http://schemas.microsoft.com/office/drawing/2014/main" val="4202756832"/>
                    </a:ext>
                  </a:extLst>
                </a:gridCol>
                <a:gridCol w="702482">
                  <a:extLst>
                    <a:ext uri="{9D8B030D-6E8A-4147-A177-3AD203B41FA5}">
                      <a16:colId xmlns:a16="http://schemas.microsoft.com/office/drawing/2014/main" val="255988732"/>
                    </a:ext>
                  </a:extLst>
                </a:gridCol>
                <a:gridCol w="2110423">
                  <a:extLst>
                    <a:ext uri="{9D8B030D-6E8A-4147-A177-3AD203B41FA5}">
                      <a16:colId xmlns:a16="http://schemas.microsoft.com/office/drawing/2014/main" val="3052510324"/>
                    </a:ext>
                  </a:extLst>
                </a:gridCol>
                <a:gridCol w="754077">
                  <a:extLst>
                    <a:ext uri="{9D8B030D-6E8A-4147-A177-3AD203B41FA5}">
                      <a16:colId xmlns:a16="http://schemas.microsoft.com/office/drawing/2014/main" val="3333805347"/>
                    </a:ext>
                  </a:extLst>
                </a:gridCol>
                <a:gridCol w="1121193">
                  <a:extLst>
                    <a:ext uri="{9D8B030D-6E8A-4147-A177-3AD203B41FA5}">
                      <a16:colId xmlns:a16="http://schemas.microsoft.com/office/drawing/2014/main" val="1178983921"/>
                    </a:ext>
                  </a:extLst>
                </a:gridCol>
                <a:gridCol w="2109432">
                  <a:extLst>
                    <a:ext uri="{9D8B030D-6E8A-4147-A177-3AD203B41FA5}">
                      <a16:colId xmlns:a16="http://schemas.microsoft.com/office/drawing/2014/main" val="101714667"/>
                    </a:ext>
                  </a:extLst>
                </a:gridCol>
                <a:gridCol w="1968537">
                  <a:extLst>
                    <a:ext uri="{9D8B030D-6E8A-4147-A177-3AD203B41FA5}">
                      <a16:colId xmlns:a16="http://schemas.microsoft.com/office/drawing/2014/main" val="3964778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 for Chronic Disease Diagnosis using LLMs</a:t>
                      </a:r>
                      <a:endParaRPr lang="en-IN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Chat Ella, a GPT-2-based chatbot for diagnosing chronic diseases.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dataset with 24 chronic diseases</a:t>
                      </a:r>
                      <a:endParaRPr lang="en-IN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GPT-2, Adam Optimizer, CLR Scheduler</a:t>
                      </a:r>
                      <a:endParaRPr lang="en-IN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remote healthcare services, particularly for patients lacking access to medical professionals.</a:t>
                      </a:r>
                      <a:endParaRPr lang="en-IN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depends on training data, lacks clinical validation, NLP limitations.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5245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0F237B2-0FD2-A7D1-9B11-1835DE131011}"/>
              </a:ext>
            </a:extLst>
          </p:cNvPr>
          <p:cNvSpPr txBox="1"/>
          <p:nvPr/>
        </p:nvSpPr>
        <p:spPr>
          <a:xfrm>
            <a:off x="748665" y="450795"/>
            <a:ext cx="10178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SUMMARY</a:t>
            </a:r>
            <a:endParaRPr lang="en-IN" sz="4000" b="1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ED80766-A6E2-6BC8-1157-2F49291E6D09}"/>
              </a:ext>
            </a:extLst>
          </p:cNvPr>
          <p:cNvGraphicFramePr>
            <a:graphicFrameLocks noGrp="1"/>
          </p:cNvGraphicFramePr>
          <p:nvPr/>
        </p:nvGraphicFramePr>
        <p:xfrm>
          <a:off x="748666" y="4636198"/>
          <a:ext cx="10424161" cy="15256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0194">
                  <a:extLst>
                    <a:ext uri="{9D8B030D-6E8A-4147-A177-3AD203B41FA5}">
                      <a16:colId xmlns:a16="http://schemas.microsoft.com/office/drawing/2014/main" val="824380056"/>
                    </a:ext>
                  </a:extLst>
                </a:gridCol>
                <a:gridCol w="1121945">
                  <a:extLst>
                    <a:ext uri="{9D8B030D-6E8A-4147-A177-3AD203B41FA5}">
                      <a16:colId xmlns:a16="http://schemas.microsoft.com/office/drawing/2014/main" val="2757996061"/>
                    </a:ext>
                  </a:extLst>
                </a:gridCol>
                <a:gridCol w="702953">
                  <a:extLst>
                    <a:ext uri="{9D8B030D-6E8A-4147-A177-3AD203B41FA5}">
                      <a16:colId xmlns:a16="http://schemas.microsoft.com/office/drawing/2014/main" val="209737680"/>
                    </a:ext>
                  </a:extLst>
                </a:gridCol>
                <a:gridCol w="2111838">
                  <a:extLst>
                    <a:ext uri="{9D8B030D-6E8A-4147-A177-3AD203B41FA5}">
                      <a16:colId xmlns:a16="http://schemas.microsoft.com/office/drawing/2014/main" val="3495107909"/>
                    </a:ext>
                  </a:extLst>
                </a:gridCol>
                <a:gridCol w="754583">
                  <a:extLst>
                    <a:ext uri="{9D8B030D-6E8A-4147-A177-3AD203B41FA5}">
                      <a16:colId xmlns:a16="http://schemas.microsoft.com/office/drawing/2014/main" val="574371273"/>
                    </a:ext>
                  </a:extLst>
                </a:gridCol>
                <a:gridCol w="1121945">
                  <a:extLst>
                    <a:ext uri="{9D8B030D-6E8A-4147-A177-3AD203B41FA5}">
                      <a16:colId xmlns:a16="http://schemas.microsoft.com/office/drawing/2014/main" val="921272749"/>
                    </a:ext>
                  </a:extLst>
                </a:gridCol>
                <a:gridCol w="2110846">
                  <a:extLst>
                    <a:ext uri="{9D8B030D-6E8A-4147-A177-3AD203B41FA5}">
                      <a16:colId xmlns:a16="http://schemas.microsoft.com/office/drawing/2014/main" val="1990232884"/>
                    </a:ext>
                  </a:extLst>
                </a:gridCol>
                <a:gridCol w="1969857">
                  <a:extLst>
                    <a:ext uri="{9D8B030D-6E8A-4147-A177-3AD203B41FA5}">
                      <a16:colId xmlns:a16="http://schemas.microsoft.com/office/drawing/2014/main" val="4017628636"/>
                    </a:ext>
                  </a:extLst>
                </a:gridCol>
              </a:tblGrid>
              <a:tr h="152564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Medical Specialty from Text using BERT</a:t>
                      </a:r>
                      <a:endParaRPr lang="en-IN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BERT-based model to classify medical queries into specialties.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medical Q&amp;A datasets</a:t>
                      </a:r>
                      <a:endParaRPr lang="en-IN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BERT, KM-BERT, CNN, LSTM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hospital workflows but requires real-world testing.</a:t>
                      </a:r>
                      <a:endParaRPr lang="en-IN" sz="1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data bias, challenges in overlapping specialties, and lack of real-world validation.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001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946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8356FB-3037-50B3-5050-014EB236FF87}"/>
              </a:ext>
            </a:extLst>
          </p:cNvPr>
          <p:cNvGraphicFramePr>
            <a:graphicFrameLocks noGrp="1"/>
          </p:cNvGraphicFramePr>
          <p:nvPr/>
        </p:nvGraphicFramePr>
        <p:xfrm>
          <a:off x="670560" y="899763"/>
          <a:ext cx="10678162" cy="4711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3113">
                  <a:extLst>
                    <a:ext uri="{9D8B030D-6E8A-4147-A177-3AD203B41FA5}">
                      <a16:colId xmlns:a16="http://schemas.microsoft.com/office/drawing/2014/main" val="783592681"/>
                    </a:ext>
                  </a:extLst>
                </a:gridCol>
                <a:gridCol w="1149283">
                  <a:extLst>
                    <a:ext uri="{9D8B030D-6E8A-4147-A177-3AD203B41FA5}">
                      <a16:colId xmlns:a16="http://schemas.microsoft.com/office/drawing/2014/main" val="2378783638"/>
                    </a:ext>
                  </a:extLst>
                </a:gridCol>
                <a:gridCol w="720083">
                  <a:extLst>
                    <a:ext uri="{9D8B030D-6E8A-4147-A177-3AD203B41FA5}">
                      <a16:colId xmlns:a16="http://schemas.microsoft.com/office/drawing/2014/main" val="1625784329"/>
                    </a:ext>
                  </a:extLst>
                </a:gridCol>
                <a:gridCol w="2163297">
                  <a:extLst>
                    <a:ext uri="{9D8B030D-6E8A-4147-A177-3AD203B41FA5}">
                      <a16:colId xmlns:a16="http://schemas.microsoft.com/office/drawing/2014/main" val="2510985953"/>
                    </a:ext>
                  </a:extLst>
                </a:gridCol>
                <a:gridCol w="772969">
                  <a:extLst>
                    <a:ext uri="{9D8B030D-6E8A-4147-A177-3AD203B41FA5}">
                      <a16:colId xmlns:a16="http://schemas.microsoft.com/office/drawing/2014/main" val="1493340260"/>
                    </a:ext>
                  </a:extLst>
                </a:gridCol>
                <a:gridCol w="1149283">
                  <a:extLst>
                    <a:ext uri="{9D8B030D-6E8A-4147-A177-3AD203B41FA5}">
                      <a16:colId xmlns:a16="http://schemas.microsoft.com/office/drawing/2014/main" val="4002094770"/>
                    </a:ext>
                  </a:extLst>
                </a:gridCol>
                <a:gridCol w="2162279">
                  <a:extLst>
                    <a:ext uri="{9D8B030D-6E8A-4147-A177-3AD203B41FA5}">
                      <a16:colId xmlns:a16="http://schemas.microsoft.com/office/drawing/2014/main" val="3037852223"/>
                    </a:ext>
                  </a:extLst>
                </a:gridCol>
                <a:gridCol w="2017855">
                  <a:extLst>
                    <a:ext uri="{9D8B030D-6E8A-4147-A177-3AD203B41FA5}">
                      <a16:colId xmlns:a16="http://schemas.microsoft.com/office/drawing/2014/main" val="353926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501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A78CCB-36A4-A9CD-F63D-EADB4F9479E7}"/>
              </a:ext>
            </a:extLst>
          </p:cNvPr>
          <p:cNvGraphicFramePr>
            <a:graphicFrameLocks noGrp="1"/>
          </p:cNvGraphicFramePr>
          <p:nvPr/>
        </p:nvGraphicFramePr>
        <p:xfrm>
          <a:off x="670561" y="1370870"/>
          <a:ext cx="10678161" cy="3623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3114">
                  <a:extLst>
                    <a:ext uri="{9D8B030D-6E8A-4147-A177-3AD203B41FA5}">
                      <a16:colId xmlns:a16="http://schemas.microsoft.com/office/drawing/2014/main" val="4056001546"/>
                    </a:ext>
                  </a:extLst>
                </a:gridCol>
                <a:gridCol w="1149282">
                  <a:extLst>
                    <a:ext uri="{9D8B030D-6E8A-4147-A177-3AD203B41FA5}">
                      <a16:colId xmlns:a16="http://schemas.microsoft.com/office/drawing/2014/main" val="1303405861"/>
                    </a:ext>
                  </a:extLst>
                </a:gridCol>
                <a:gridCol w="720081">
                  <a:extLst>
                    <a:ext uri="{9D8B030D-6E8A-4147-A177-3AD203B41FA5}">
                      <a16:colId xmlns:a16="http://schemas.microsoft.com/office/drawing/2014/main" val="1715208124"/>
                    </a:ext>
                  </a:extLst>
                </a:gridCol>
                <a:gridCol w="2163298">
                  <a:extLst>
                    <a:ext uri="{9D8B030D-6E8A-4147-A177-3AD203B41FA5}">
                      <a16:colId xmlns:a16="http://schemas.microsoft.com/office/drawing/2014/main" val="509894749"/>
                    </a:ext>
                  </a:extLst>
                </a:gridCol>
                <a:gridCol w="772969">
                  <a:extLst>
                    <a:ext uri="{9D8B030D-6E8A-4147-A177-3AD203B41FA5}">
                      <a16:colId xmlns:a16="http://schemas.microsoft.com/office/drawing/2014/main" val="688074325"/>
                    </a:ext>
                  </a:extLst>
                </a:gridCol>
                <a:gridCol w="1149282">
                  <a:extLst>
                    <a:ext uri="{9D8B030D-6E8A-4147-A177-3AD203B41FA5}">
                      <a16:colId xmlns:a16="http://schemas.microsoft.com/office/drawing/2014/main" val="2184111075"/>
                    </a:ext>
                  </a:extLst>
                </a:gridCol>
                <a:gridCol w="2162280">
                  <a:extLst>
                    <a:ext uri="{9D8B030D-6E8A-4147-A177-3AD203B41FA5}">
                      <a16:colId xmlns:a16="http://schemas.microsoft.com/office/drawing/2014/main" val="2743135451"/>
                    </a:ext>
                  </a:extLst>
                </a:gridCol>
                <a:gridCol w="2017855">
                  <a:extLst>
                    <a:ext uri="{9D8B030D-6E8A-4147-A177-3AD203B41FA5}">
                      <a16:colId xmlns:a16="http://schemas.microsoft.com/office/drawing/2014/main" val="2170239207"/>
                    </a:ext>
                  </a:extLst>
                </a:gridCol>
              </a:tblGrid>
              <a:tr h="19336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Primary Clinical Guidance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Robotic Medical Support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(RMSCB) using probability-based classification for preliminary diagnosis.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FAQs &amp; symptom datasets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PFSWM, PFCLM, PFAQM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24/7 healthcare accessibility, particularly in rural areas.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on training data, classification errors in complex cases.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956544"/>
                  </a:ext>
                </a:extLst>
              </a:tr>
              <a:tr h="16901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NLP-Based Healthcare Chatbot for Patient Engagement</a:t>
                      </a:r>
                      <a:endParaRPr lang="en-IN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a chatbot using deep learning &amp; NLP for symptom-based disease prediction.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chat logs &amp; symptom datasets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RNN, Encoder-Decoder Model, TF-IDF, Deep Learning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medical consultations &amp; patient engagement, reducing wait times.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limitations in understanding symptoms, bias in training data.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26" marR="421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298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55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DD0C-48B2-74A7-0AFC-C243FABCC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36" y="78046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3F9D7-1561-4E84-5DDD-70F88FBBD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03609"/>
            <a:ext cx="11353800" cy="5029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containing symptoms of the diseases in the form of CSV file.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Risk Factors, Symptom-Disease Mapping Dataset.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https://www.kaggle.com/datasets/dhivyeshrk/diseases-and-symptoms-dataset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TensorFlow/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model building, Python for coding, Hugging face.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Google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Notebook, Kaggle.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419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29A5A7-AE97-948C-4EDA-90F44E4DCA57}"/>
              </a:ext>
            </a:extLst>
          </p:cNvPr>
          <p:cNvSpPr txBox="1"/>
          <p:nvPr/>
        </p:nvSpPr>
        <p:spPr>
          <a:xfrm>
            <a:off x="338328" y="946258"/>
            <a:ext cx="109819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Multilayer Perceptron (MLP)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is a feedforward neural network consisting of input, hidden, and output layers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structured symptom data by converting it into numerical features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in hidden layers to learn non-linear patterns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in the output layer for multi-class disease classification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TabNet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deep learning model designed specifically for tabular data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sequential attention mechanism to select important features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relevant symptoms during each training step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better interpretability compared to traditional neural networks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on structured datasets with efficient feature selection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CDA4D2-F2AA-CF0A-A5E0-44315AEEF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" y="163958"/>
            <a:ext cx="10515600" cy="87374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220549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9A1BEE-B113-A2FC-025D-2F260D7C7682}"/>
              </a:ext>
            </a:extLst>
          </p:cNvPr>
          <p:cNvSpPr txBox="1"/>
          <p:nvPr/>
        </p:nvSpPr>
        <p:spPr>
          <a:xfrm>
            <a:off x="655320" y="856357"/>
            <a:ext cx="993038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MLP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MLP is an improved version of MLP with skip connections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residual links to pass information across layers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reducing vanishing gradient problem in deep networks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training stability and convergence speed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performance close to MLP with better learning efficiency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XLM-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XLM-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multilingual transformer-based language model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large datasets to understand multiple languages and contexts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symptom data into text format for processing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attention mechanism to capture relationships between symptoms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in handling natural language-based disease prediction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AEDA65-C1BC-766A-C512-3CABBEFA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" y="163958"/>
            <a:ext cx="10515600" cy="87374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3943512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1F4B93-1D4A-2A46-994F-6230CFD1B51E}"/>
              </a:ext>
            </a:extLst>
          </p:cNvPr>
          <p:cNvSpPr txBox="1"/>
          <p:nvPr/>
        </p:nvSpPr>
        <p:spPr>
          <a:xfrm>
            <a:off x="1155192" y="1331435"/>
            <a:ext cx="110368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ERNIE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ERNIE is a knowledge-enhanced transformer model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external knowledge sources for better understanding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deep semantic and contextual relationships in text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on complex symptom descriptions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slightly better accuracy than basic LLM models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ELECTRA is a transformer-based model with efficient training mechanism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replaced token detection instead of masked prediction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less computational cost and faster training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strongly in classification tasks like disease prediction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373255B-6200-5395-7536-6A0719792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" y="163958"/>
            <a:ext cx="10515600" cy="87374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517137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F127DA-62B6-3FB8-4B89-8095A99E5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04" y="1426063"/>
            <a:ext cx="3381847" cy="109552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DC1D72-83F8-A6BA-F5F9-294CA10CBEFA}"/>
              </a:ext>
            </a:extLst>
          </p:cNvPr>
          <p:cNvCxnSpPr>
            <a:stCxn id="5" idx="3"/>
          </p:cNvCxnSpPr>
          <p:nvPr/>
        </p:nvCxnSpPr>
        <p:spPr>
          <a:xfrm>
            <a:off x="4473451" y="1973827"/>
            <a:ext cx="6589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9FC71E-EE4F-A436-FB3B-525CF05B91F8}"/>
              </a:ext>
            </a:extLst>
          </p:cNvPr>
          <p:cNvSpPr/>
          <p:nvPr/>
        </p:nvSpPr>
        <p:spPr>
          <a:xfrm>
            <a:off x="5132439" y="1750142"/>
            <a:ext cx="1366684" cy="4817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E535DE8-CB6B-9B75-7D2B-BFD3B8B1A737}"/>
              </a:ext>
            </a:extLst>
          </p:cNvPr>
          <p:cNvCxnSpPr>
            <a:stCxn id="8" idx="3"/>
          </p:cNvCxnSpPr>
          <p:nvPr/>
        </p:nvCxnSpPr>
        <p:spPr>
          <a:xfrm>
            <a:off x="6499123" y="1991014"/>
            <a:ext cx="1052051" cy="530577"/>
          </a:xfrm>
          <a:prstGeom prst="bentConnector3">
            <a:avLst>
              <a:gd name="adj1" fmla="val 4913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0A8F3B5-E075-0D6A-EC9B-B4AAD06A3206}"/>
              </a:ext>
            </a:extLst>
          </p:cNvPr>
          <p:cNvCxnSpPr>
            <a:stCxn id="8" idx="3"/>
          </p:cNvCxnSpPr>
          <p:nvPr/>
        </p:nvCxnSpPr>
        <p:spPr>
          <a:xfrm flipV="1">
            <a:off x="6499123" y="1514168"/>
            <a:ext cx="1032387" cy="4768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EE351E-C2EC-929D-9AEB-B74C30474833}"/>
              </a:ext>
            </a:extLst>
          </p:cNvPr>
          <p:cNvSpPr/>
          <p:nvPr/>
        </p:nvSpPr>
        <p:spPr>
          <a:xfrm>
            <a:off x="7551174" y="1248879"/>
            <a:ext cx="1052051" cy="5305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EFB3C6-3BE3-854F-E87D-0D7DB465C50B}"/>
              </a:ext>
            </a:extLst>
          </p:cNvPr>
          <p:cNvSpPr/>
          <p:nvPr/>
        </p:nvSpPr>
        <p:spPr>
          <a:xfrm>
            <a:off x="7531510" y="2256302"/>
            <a:ext cx="1052051" cy="5305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7D0121-0F34-7075-FE35-F5A1CC327022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8603225" y="1514168"/>
            <a:ext cx="806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5AFCA42-3412-D8D6-1594-3A758E4855F7}"/>
              </a:ext>
            </a:extLst>
          </p:cNvPr>
          <p:cNvSpPr/>
          <p:nvPr/>
        </p:nvSpPr>
        <p:spPr>
          <a:xfrm>
            <a:off x="9409471" y="1361964"/>
            <a:ext cx="1199762" cy="4023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502D9E9-EBF4-3818-9DF3-D4DB84A60E2F}"/>
              </a:ext>
            </a:extLst>
          </p:cNvPr>
          <p:cNvCxnSpPr>
            <a:stCxn id="24" idx="2"/>
          </p:cNvCxnSpPr>
          <p:nvPr/>
        </p:nvCxnSpPr>
        <p:spPr>
          <a:xfrm rot="5400000">
            <a:off x="9239641" y="1934160"/>
            <a:ext cx="939542" cy="5998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4442061-0741-2103-C2FA-9BE1624B1FDE}"/>
              </a:ext>
            </a:extLst>
          </p:cNvPr>
          <p:cNvCxnSpPr>
            <a:stCxn id="24" idx="2"/>
          </p:cNvCxnSpPr>
          <p:nvPr/>
        </p:nvCxnSpPr>
        <p:spPr>
          <a:xfrm rot="16200000" flipH="1">
            <a:off x="9878737" y="1894943"/>
            <a:ext cx="939542" cy="6783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488B7B6-815D-0DBE-9FD4-5716BCF3F0C4}"/>
              </a:ext>
            </a:extLst>
          </p:cNvPr>
          <p:cNvSpPr/>
          <p:nvPr/>
        </p:nvSpPr>
        <p:spPr>
          <a:xfrm>
            <a:off x="8460914" y="2735241"/>
            <a:ext cx="1696093" cy="13141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Models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TabNet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Residual MLP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B399C05-6CA6-F25A-5469-A11224BA8510}"/>
              </a:ext>
            </a:extLst>
          </p:cNvPr>
          <p:cNvSpPr/>
          <p:nvPr/>
        </p:nvSpPr>
        <p:spPr>
          <a:xfrm>
            <a:off x="10196052" y="2723535"/>
            <a:ext cx="1725759" cy="13258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Models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XLM-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ERNIE, ELECTRA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FD71D7F-A78D-A587-85BB-F3F14C29348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95451" y="3955744"/>
            <a:ext cx="377884" cy="71775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406C87E-158F-8CDF-4640-E07DAD3EA931}"/>
              </a:ext>
            </a:extLst>
          </p:cNvPr>
          <p:cNvCxnSpPr>
            <a:cxnSpLocks/>
          </p:cNvCxnSpPr>
          <p:nvPr/>
        </p:nvCxnSpPr>
        <p:spPr>
          <a:xfrm rot="5400000">
            <a:off x="10031295" y="4201192"/>
            <a:ext cx="885663" cy="6047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6E8BA65-F114-79E2-A05E-96C809E06C4C}"/>
              </a:ext>
            </a:extLst>
          </p:cNvPr>
          <p:cNvSpPr/>
          <p:nvPr/>
        </p:nvSpPr>
        <p:spPr>
          <a:xfrm>
            <a:off x="9334522" y="4935028"/>
            <a:ext cx="1809136" cy="65331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2B84DE7-DD05-4BA3-9CEA-EF9FEFB51BFE}"/>
              </a:ext>
            </a:extLst>
          </p:cNvPr>
          <p:cNvCxnSpPr>
            <a:cxnSpLocks/>
          </p:cNvCxnSpPr>
          <p:nvPr/>
        </p:nvCxnSpPr>
        <p:spPr>
          <a:xfrm>
            <a:off x="10201254" y="5588344"/>
            <a:ext cx="0" cy="329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ABC24F0-EE82-C1B0-302C-83ED93C5CBD8}"/>
              </a:ext>
            </a:extLst>
          </p:cNvPr>
          <p:cNvSpPr/>
          <p:nvPr/>
        </p:nvSpPr>
        <p:spPr>
          <a:xfrm>
            <a:off x="9274364" y="5944137"/>
            <a:ext cx="2148287" cy="6023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(SHAP)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35E49212-44AE-485A-4722-2C848E8AB3E0}"/>
              </a:ext>
            </a:extLst>
          </p:cNvPr>
          <p:cNvCxnSpPr>
            <a:stCxn id="16" idx="2"/>
          </p:cNvCxnSpPr>
          <p:nvPr/>
        </p:nvCxnSpPr>
        <p:spPr>
          <a:xfrm rot="5400000">
            <a:off x="6734814" y="2000581"/>
            <a:ext cx="536424" cy="210902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D9922E-10BB-A688-4C82-BBE3C10AC2A2}"/>
              </a:ext>
            </a:extLst>
          </p:cNvPr>
          <p:cNvCxnSpPr/>
          <p:nvPr/>
        </p:nvCxnSpPr>
        <p:spPr>
          <a:xfrm>
            <a:off x="5980485" y="3323303"/>
            <a:ext cx="0" cy="668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FD61D4F-0AFC-AADD-23F8-D2EFEAB13587}"/>
              </a:ext>
            </a:extLst>
          </p:cNvPr>
          <p:cNvSpPr/>
          <p:nvPr/>
        </p:nvSpPr>
        <p:spPr>
          <a:xfrm>
            <a:off x="5132439" y="4011561"/>
            <a:ext cx="1696093" cy="4023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Model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8449E10-4221-21C8-4A70-27D982EE31B9}"/>
              </a:ext>
            </a:extLst>
          </p:cNvPr>
          <p:cNvSpPr/>
          <p:nvPr/>
        </p:nvSpPr>
        <p:spPr>
          <a:xfrm>
            <a:off x="7025148" y="5024284"/>
            <a:ext cx="1809136" cy="3786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Accuracy/Loss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2582FD8-1ACD-40BD-AEC8-79938534C4CC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935622" y="5213610"/>
            <a:ext cx="10895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B1DE20A-AE43-6CD8-F6D9-2917BE56963E}"/>
              </a:ext>
            </a:extLst>
          </p:cNvPr>
          <p:cNvCxnSpPr>
            <a:cxnSpLocks/>
          </p:cNvCxnSpPr>
          <p:nvPr/>
        </p:nvCxnSpPr>
        <p:spPr>
          <a:xfrm flipH="1" flipV="1">
            <a:off x="5922728" y="4404189"/>
            <a:ext cx="25788" cy="826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70C5414-0720-E4CA-C6C7-CDE771083E57}"/>
              </a:ext>
            </a:extLst>
          </p:cNvPr>
          <p:cNvCxnSpPr>
            <a:stCxn id="52" idx="1"/>
          </p:cNvCxnSpPr>
          <p:nvPr/>
        </p:nvCxnSpPr>
        <p:spPr>
          <a:xfrm flipH="1" flipV="1">
            <a:off x="4336026" y="4198374"/>
            <a:ext cx="796413" cy="14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7165B18B-23FD-967D-3573-4A3AE61F6B92}"/>
              </a:ext>
            </a:extLst>
          </p:cNvPr>
          <p:cNvSpPr/>
          <p:nvPr/>
        </p:nvSpPr>
        <p:spPr>
          <a:xfrm>
            <a:off x="2771459" y="3962019"/>
            <a:ext cx="1554734" cy="5169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Observation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F4487AD0-3114-7955-414C-A488F11AE890}"/>
              </a:ext>
            </a:extLst>
          </p:cNvPr>
          <p:cNvCxnSpPr>
            <a:stCxn id="73" idx="1"/>
          </p:cNvCxnSpPr>
          <p:nvPr/>
        </p:nvCxnSpPr>
        <p:spPr>
          <a:xfrm rot="10800000" flipV="1">
            <a:off x="2005781" y="4220496"/>
            <a:ext cx="765678" cy="8037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C8EF5DE-1E2A-9F73-ECB9-1A1C4FC38002}"/>
              </a:ext>
            </a:extLst>
          </p:cNvPr>
          <p:cNvSpPr/>
          <p:nvPr/>
        </p:nvSpPr>
        <p:spPr>
          <a:xfrm>
            <a:off x="1430622" y="5024284"/>
            <a:ext cx="1204394" cy="5997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Model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D06C3C-37AC-8C9F-B243-063FF1811582}"/>
              </a:ext>
            </a:extLst>
          </p:cNvPr>
          <p:cNvSpPr txBox="1"/>
          <p:nvPr/>
        </p:nvSpPr>
        <p:spPr>
          <a:xfrm>
            <a:off x="599909" y="263497"/>
            <a:ext cx="93750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B410CE-28A9-685E-BA1C-AC1DECF3D169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7929716" y="6245313"/>
            <a:ext cx="13446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057D8A-45C0-34B9-0B2B-5663F9820C30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7929716" y="5402936"/>
            <a:ext cx="0" cy="842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55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B981-3F06-31C8-37F9-8FB9D29F8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49" y="358877"/>
            <a:ext cx="10515600" cy="756623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EXECUTION STEPS 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2BF81-CF03-051F-A98B-AC696B154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069"/>
            <a:ext cx="10515600" cy="54274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symptom-based healthcare dataset from reliable sources.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patient symptoms and disease labels.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handled and data cleaned.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encoded into numerical format.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divided into training and testing sets.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Model Development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Deep Learning models such as MLP,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Residual MLP.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to learn symptom–disease relationships.</a:t>
            </a:r>
          </a:p>
          <a:p>
            <a:r>
              <a:rPr lang="da-D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model parameters for better performance.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318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02886-6AEA-E6D3-EC3D-48B14BD7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776747"/>
            <a:ext cx="10515600" cy="5712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LLM-Based Prediction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LLM used for symptom understanding.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disease predictions from user input.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natural language interaction.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Model Training &amp; Evaluation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using processed dataset.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evaluated using Accuracy, Precision, Recall, and F1-score.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conducted between Deep Learning and LLM models.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Explainable Prediction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symptoms influencing predictions.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interpretable prediction results enhancing transparency and trust in AI-based healthcare systems.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490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20D541-3057-EAE2-775E-B7F942293D10}"/>
              </a:ext>
            </a:extLst>
          </p:cNvPr>
          <p:cNvSpPr txBox="1"/>
          <p:nvPr/>
        </p:nvSpPr>
        <p:spPr>
          <a:xfrm>
            <a:off x="314632" y="562548"/>
            <a:ext cx="55158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523A69-2A78-DEBC-CA9B-FCDEFBDC9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2" y="1816016"/>
            <a:ext cx="5515897" cy="3372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FF8D22-8B68-A967-B4F9-635F3D83A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89044"/>
            <a:ext cx="5515897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96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1">
            <a:extLst>
              <a:ext uri="{FF2B5EF4-FFF2-40B4-BE49-F238E27FC236}">
                <a16:creationId xmlns:a16="http://schemas.microsoft.com/office/drawing/2014/main" id="{9A8340CB-C939-8D35-F243-DC754F6EC5A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6617" y="276999"/>
            <a:ext cx="3777679" cy="3439350"/>
          </a:xfrm>
          <a:prstGeom prst="rect">
            <a:avLst/>
          </a:prstGeom>
        </p:spPr>
      </p:pic>
      <p:pic>
        <p:nvPicPr>
          <p:cNvPr id="5" name="Image 12">
            <a:extLst>
              <a:ext uri="{FF2B5EF4-FFF2-40B4-BE49-F238E27FC236}">
                <a16:creationId xmlns:a16="http://schemas.microsoft.com/office/drawing/2014/main" id="{F5F509C2-D976-8FBC-1B4B-320089D74AB2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99009" y="282321"/>
            <a:ext cx="3632899" cy="3640391"/>
          </a:xfrm>
          <a:prstGeom prst="rect">
            <a:avLst/>
          </a:prstGeom>
        </p:spPr>
      </p:pic>
      <p:pic>
        <p:nvPicPr>
          <p:cNvPr id="6" name="Image 13">
            <a:extLst>
              <a:ext uri="{FF2B5EF4-FFF2-40B4-BE49-F238E27FC236}">
                <a16:creationId xmlns:a16="http://schemas.microsoft.com/office/drawing/2014/main" id="{A8819A39-99B0-B58D-A6A0-E4E95B8E75B4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17177" y="4669956"/>
            <a:ext cx="7080949" cy="9547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07E01E-85EE-4FF1-16EB-7E62B63120D4}"/>
              </a:ext>
            </a:extLst>
          </p:cNvPr>
          <p:cNvSpPr txBox="1"/>
          <p:nvPr/>
        </p:nvSpPr>
        <p:spPr>
          <a:xfrm>
            <a:off x="1996059" y="5826241"/>
            <a:ext cx="81998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" algn="ctr">
              <a:spcBef>
                <a:spcPts val="770"/>
              </a:spcBef>
              <a:buNone/>
            </a:pP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Explainable</a:t>
            </a:r>
            <a:r>
              <a:rPr lang="en-US" sz="1800" spc="6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AI</a:t>
            </a:r>
            <a:r>
              <a:rPr lang="en-US" sz="1800" spc="7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(XAI)</a:t>
            </a:r>
            <a:r>
              <a:rPr lang="en-US" sz="1800" spc="6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analysis</a:t>
            </a:r>
            <a:r>
              <a:rPr lang="en-US" sz="1800" spc="7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result</a:t>
            </a:r>
            <a:r>
              <a:rPr lang="en-US" sz="1800" spc="6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for</a:t>
            </a:r>
            <a:r>
              <a:rPr lang="en-US" sz="1800" spc="7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6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Large language </a:t>
            </a:r>
            <a:r>
              <a:rPr lang="en-US" sz="1800" spc="-1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model.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CC71C-8501-0189-A679-DEA8FC136518}"/>
              </a:ext>
            </a:extLst>
          </p:cNvPr>
          <p:cNvSpPr txBox="1"/>
          <p:nvPr/>
        </p:nvSpPr>
        <p:spPr>
          <a:xfrm>
            <a:off x="1996059" y="4134026"/>
            <a:ext cx="81998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" algn="ctr">
              <a:spcBef>
                <a:spcPts val="770"/>
              </a:spcBef>
              <a:buNone/>
            </a:pP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Explainable</a:t>
            </a:r>
            <a:r>
              <a:rPr lang="en-US" sz="1800" spc="6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AI</a:t>
            </a:r>
            <a:r>
              <a:rPr lang="en-US" sz="1800" spc="7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(XAI)</a:t>
            </a:r>
            <a:r>
              <a:rPr lang="en-US" sz="1800" spc="6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analysis</a:t>
            </a:r>
            <a:r>
              <a:rPr lang="en-US" sz="1800" spc="7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result</a:t>
            </a:r>
            <a:r>
              <a:rPr lang="en-US" sz="1800" spc="6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for</a:t>
            </a:r>
            <a:r>
              <a:rPr lang="en-US" sz="1800" spc="7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6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deep</a:t>
            </a:r>
            <a:r>
              <a:rPr lang="en-US" sz="1800" spc="7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learning</a:t>
            </a:r>
            <a:r>
              <a:rPr lang="en-US" sz="1800" spc="65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model.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266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BEFE46A-C6EC-9FEF-550D-A24602ACE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223869"/>
              </p:ext>
            </p:extLst>
          </p:nvPr>
        </p:nvGraphicFramePr>
        <p:xfrm>
          <a:off x="1739392" y="1222586"/>
          <a:ext cx="9571734" cy="4839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289">
                  <a:extLst>
                    <a:ext uri="{9D8B030D-6E8A-4147-A177-3AD203B41FA5}">
                      <a16:colId xmlns:a16="http://schemas.microsoft.com/office/drawing/2014/main" val="3616814502"/>
                    </a:ext>
                  </a:extLst>
                </a:gridCol>
                <a:gridCol w="1595289">
                  <a:extLst>
                    <a:ext uri="{9D8B030D-6E8A-4147-A177-3AD203B41FA5}">
                      <a16:colId xmlns:a16="http://schemas.microsoft.com/office/drawing/2014/main" val="3845074060"/>
                    </a:ext>
                  </a:extLst>
                </a:gridCol>
                <a:gridCol w="1595289">
                  <a:extLst>
                    <a:ext uri="{9D8B030D-6E8A-4147-A177-3AD203B41FA5}">
                      <a16:colId xmlns:a16="http://schemas.microsoft.com/office/drawing/2014/main" val="643105945"/>
                    </a:ext>
                  </a:extLst>
                </a:gridCol>
                <a:gridCol w="1595289">
                  <a:extLst>
                    <a:ext uri="{9D8B030D-6E8A-4147-A177-3AD203B41FA5}">
                      <a16:colId xmlns:a16="http://schemas.microsoft.com/office/drawing/2014/main" val="3923341623"/>
                    </a:ext>
                  </a:extLst>
                </a:gridCol>
                <a:gridCol w="1595289">
                  <a:extLst>
                    <a:ext uri="{9D8B030D-6E8A-4147-A177-3AD203B41FA5}">
                      <a16:colId xmlns:a16="http://schemas.microsoft.com/office/drawing/2014/main" val="3278382186"/>
                    </a:ext>
                  </a:extLst>
                </a:gridCol>
                <a:gridCol w="1595289">
                  <a:extLst>
                    <a:ext uri="{9D8B030D-6E8A-4147-A177-3AD203B41FA5}">
                      <a16:colId xmlns:a16="http://schemas.microsoft.com/office/drawing/2014/main" val="1880221991"/>
                    </a:ext>
                  </a:extLst>
                </a:gridCol>
              </a:tblGrid>
              <a:tr h="6597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51710829"/>
                  </a:ext>
                </a:extLst>
              </a:tr>
              <a:tr h="659779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XLM- Roberta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0.8331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9300191"/>
                  </a:ext>
                </a:extLst>
              </a:tr>
              <a:tr h="659779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ERNIE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0.8392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31240662"/>
                  </a:ext>
                </a:extLst>
              </a:tr>
              <a:tr h="659779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ELECTRA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0.8542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59446470"/>
                  </a:ext>
                </a:extLst>
              </a:tr>
              <a:tr h="88121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Multilayer Perceptron (MLP)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0.8671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15543944"/>
                  </a:ext>
                </a:extLst>
              </a:tr>
              <a:tr h="659779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TabNet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0.8427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06101044"/>
                  </a:ext>
                </a:extLst>
              </a:tr>
              <a:tr h="659779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Residual MLP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0.8543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44941896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DF823C0-7653-ACA0-FDB5-DAA598945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020" y="307804"/>
            <a:ext cx="10515600" cy="804914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WITH CHART</a:t>
            </a:r>
          </a:p>
        </p:txBody>
      </p:sp>
    </p:spTree>
    <p:extLst>
      <p:ext uri="{BB962C8B-B14F-4D97-AF65-F5344CB8AC3E}">
        <p14:creationId xmlns:p14="http://schemas.microsoft.com/office/powerpoint/2010/main" val="3583481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8CCB22-688E-34D7-7F5F-CC39FF648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47" y="1396182"/>
            <a:ext cx="8958957" cy="463658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08D6BD0-6AB7-4D22-ABAB-9775414AD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591268"/>
            <a:ext cx="10515600" cy="804914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</p:spTree>
    <p:extLst>
      <p:ext uri="{BB962C8B-B14F-4D97-AF65-F5344CB8AC3E}">
        <p14:creationId xmlns:p14="http://schemas.microsoft.com/office/powerpoint/2010/main" val="447882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D5595-55CC-C074-69A5-F472291BA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58"/>
            <a:ext cx="10515600" cy="84424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FBFED-AC82-D0E0-8263-D59787BD2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1"/>
            <a:ext cx="10515600" cy="495776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disease prediction system using Deep Learning and LLM models.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performed better,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achieving highest accuracy (~87%)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was used to explain predictions by identifying important symptoms.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both accurate and interpretable results for healthcare use.</a:t>
            </a: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real-time and clinical data to improve accuracy.</a:t>
            </a:r>
          </a:p>
          <a:p>
            <a:r>
              <a:rPr lang="en-US" sz="2400" dirty="0"/>
              <a:t>Include more data types like medical reports and images.</a:t>
            </a:r>
          </a:p>
          <a:p>
            <a:r>
              <a:rPr lang="en-US" sz="2400" dirty="0"/>
              <a:t>Improve performance using hybrid models.</a:t>
            </a:r>
          </a:p>
          <a:p>
            <a:r>
              <a:rPr lang="en-US" sz="2400" dirty="0"/>
              <a:t>Deploy as a web or mobile application.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260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06982-9786-074C-4EE5-429E7BD1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567812"/>
            <a:ext cx="10515600" cy="64401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0945D-E48F-0A23-9852-ADFD9719B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51" y="1574537"/>
            <a:ext cx="11336298" cy="4365523"/>
          </a:xfrm>
        </p:spPr>
        <p:txBody>
          <a:bodyPr/>
          <a:lstStyle/>
          <a:p>
            <a:pPr marL="0" indent="0" algn="just"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[1]	S. Sreedhar Kumar, S. T. Ahmed, A. S. Fathima, M. </a:t>
            </a:r>
            <a:r>
              <a:rPr lang="en-I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Nishabai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S. Sophia, “Medical </a:t>
            </a:r>
            <a:r>
              <a:rPr lang="en-I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Assistance 	for 	Primary Clinical Guidance using Machine Learning Techniques,” in </a:t>
            </a:r>
            <a:r>
              <a:rPr lang="en-IN" sz="18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Procedia Computer Science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	Elsevier B.V., 	2024, pp. 279–287. </a:t>
            </a:r>
            <a:r>
              <a:rPr lang="en-I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10.1016/j.procs.2024.03.217.</a:t>
            </a: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[2]	N. Xu, “The investigation of symptom to disease chatbot based on LLAMA-2,”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 and Computational 	Engineering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55, no. 1, pp. 39–43, Apr. 2024,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10.54254/27552721/55/20241433.</a:t>
            </a:r>
          </a:p>
          <a:p>
            <a:pPr marL="0" indent="0" algn="just"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[3]	S. Zhang and J. Song, “A chatbot based question and answer system for the auxiliary diagnosis of 	chronic 	diseases 	based on large language model,” </a:t>
            </a:r>
            <a:r>
              <a:rPr lang="en-IN" sz="18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 Rep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14, no. 1, Dec. 2024, 	doi:10.1038/s41598-024-	674294.</a:t>
            </a:r>
          </a:p>
          <a:p>
            <a:pPr marL="0" indent="0" algn="just"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[4]	B. Kevin, B. </a:t>
            </a:r>
            <a:r>
              <a:rPr lang="en-I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VIkin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M. Nair, “BUILDING A CHATBOT FOR HEALTHCARE USING NLP,” Apr. 10, 	2023. 	doi:10.36227/techrxiv.22578472.v1.</a:t>
            </a:r>
          </a:p>
          <a:p>
            <a:pPr marL="0" indent="0" algn="just"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[5]	Y. Kim, J. H. Kim, Y. M. Kim, S. Song, and H. J. Joo, “Predicting medical specialty from text based on a 	domain-specific 	pre-trained </a:t>
            </a:r>
            <a:r>
              <a:rPr lang="en-I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BERT,”</a:t>
            </a:r>
            <a:r>
              <a:rPr lang="en-IN" sz="18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8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 Med Inform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vol.170, Feb. 2023, 	doi:10.1016/j.ijmedinf.2022.104956.</a:t>
            </a: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0445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009759-F3C9-8B1F-91C1-3B60DFEDA631}"/>
              </a:ext>
            </a:extLst>
          </p:cNvPr>
          <p:cNvSpPr txBox="1"/>
          <p:nvPr/>
        </p:nvSpPr>
        <p:spPr>
          <a:xfrm>
            <a:off x="932688" y="1033272"/>
            <a:ext cx="10643616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20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[6]	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Yang, Rui, et al. "Large language models in health care: Development, applications, and 	challenges." 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 Care 	Science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2.4 (2023): 255-263.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[7] 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Silvestri, Caitlin, et al. "Evaluation of a novel large language model (LLM)-powered chatbot for 	oral 	boards 	scenarios." </a:t>
            </a: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Global Surgical Education-Journal of the Association for 	Surgical Education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3.1 	(2024): 1-12.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 Sivasamy, S.: AI-Driven Medical Chatbot for Predicting and Managing Infectious Diseases. 	International 	Journal of Advanced Research in Science, Communication and Technology, 	772–777 (2025)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 Biradar, S., Shastri, S.: Medical Chatbot: AI Based Infectious Disease Prediction Model. Journal 	of Scientific 	Research and Technology, 1–12 (2024)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 Barath Lakshman, A.N.: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Integrating LLMs for Medical Assistance (2024)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 Zhang, S., Song, J.: A chatbot based question and answer system for the auxiliary diagnosis of 	chronic 	diseases based on large language model. Scientific Reports 14(1), 17118 (2024)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 Yang, X., et al.: Application of large language models in disease diagnosis and treatment. 	Chinese Medical 	Journal 138(2), 130–142 (2025)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42691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1938</Words>
  <Application>Microsoft Office PowerPoint</Application>
  <PresentationFormat>Widescreen</PresentationFormat>
  <Paragraphs>257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Georgia</vt:lpstr>
      <vt:lpstr>Times New Roman</vt:lpstr>
      <vt:lpstr>Wingdings</vt:lpstr>
      <vt:lpstr>Office Theme</vt:lpstr>
      <vt:lpstr>Department of Information Technology V R Siddhartha Engineering College</vt:lpstr>
      <vt:lpstr>                      AGENDA</vt:lpstr>
      <vt:lpstr>INTRODUCTION</vt:lpstr>
      <vt:lpstr>PROBLEM STATEMENT</vt:lpstr>
      <vt:lpstr>OBJECTIVES</vt:lpstr>
      <vt:lpstr>PowerPoint Presentation</vt:lpstr>
      <vt:lpstr>PowerPoint Presentation</vt:lpstr>
      <vt:lpstr>DATASET AND REQUIREMENTS</vt:lpstr>
      <vt:lpstr>ALGORITHM</vt:lpstr>
      <vt:lpstr>ALGORITHM</vt:lpstr>
      <vt:lpstr>ALGORITHM</vt:lpstr>
      <vt:lpstr>PowerPoint Presentation</vt:lpstr>
      <vt:lpstr>IMPLEMENTATION AND EXECUTION STEPS </vt:lpstr>
      <vt:lpstr>PowerPoint Presentation</vt:lpstr>
      <vt:lpstr>PowerPoint Presentation</vt:lpstr>
      <vt:lpstr>PowerPoint Presentation</vt:lpstr>
      <vt:lpstr>RESULT ANALYSIS WITH CHART</vt:lpstr>
      <vt:lpstr>RESULT ANALYSIS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PINJALA SRINIVASA BHARGAV</dc:creator>
  <cp:lastModifiedBy>ARAVIND GURRAM</cp:lastModifiedBy>
  <cp:revision>18</cp:revision>
  <dcterms:created xsi:type="dcterms:W3CDTF">2026-02-27T06:09:54Z</dcterms:created>
  <dcterms:modified xsi:type="dcterms:W3CDTF">2026-04-20T14:00:01Z</dcterms:modified>
</cp:coreProperties>
</file>